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7465e384c45be" /><Relationship Type="http://schemas.openxmlformats.org/officeDocument/2006/relationships/extended-properties" Target="/docProps/app.xml" Id="R5d4b22ccfd054d66" /><Relationship Type="http://schemas.openxmlformats.org/officeDocument/2006/relationships/officeDocument" Target="/ppt/presentation.xml" Id="R64cff44840a54a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6c971f5dd47ec"/>
  </p:sldMasterIdLst>
  <p:notesMasterIdLst>
    <p:notesMasterId xmlns:r="http://schemas.openxmlformats.org/officeDocument/2006/relationships" r:id="R5f0edbf86b6e46e0"/>
  </p:notesMasterIdLst>
  <p:sldIdLst>
    <p:sldId xmlns:r="http://schemas.openxmlformats.org/officeDocument/2006/relationships" id="256" r:id="R6740d15e34634079"/>
    <p:sldId xmlns:r="http://schemas.openxmlformats.org/officeDocument/2006/relationships" id="257" r:id="Rbec33780c02747a8"/>
    <p:sldId xmlns:r="http://schemas.openxmlformats.org/officeDocument/2006/relationships" id="258" r:id="R58209371481a4ee8"/>
    <p:sldId xmlns:r="http://schemas.openxmlformats.org/officeDocument/2006/relationships" id="259" r:id="Rff589f8b5d1742c2"/>
    <p:sldId xmlns:r="http://schemas.openxmlformats.org/officeDocument/2006/relationships" id="260" r:id="Ra9349eeaee59488b"/>
    <p:sldId xmlns:r="http://schemas.openxmlformats.org/officeDocument/2006/relationships" id="261" r:id="R2ba5a71164f44520"/>
    <p:sldId xmlns:r="http://schemas.openxmlformats.org/officeDocument/2006/relationships" id="262" r:id="Re5fa24b2e2184ea5"/>
    <p:sldId xmlns:r="http://schemas.openxmlformats.org/officeDocument/2006/relationships" id="263" r:id="Rb99ffc44cb34443f"/>
    <p:sldId xmlns:r="http://schemas.openxmlformats.org/officeDocument/2006/relationships" id="264" r:id="R27b5108a57aa48bb"/>
    <p:sldId xmlns:r="http://schemas.openxmlformats.org/officeDocument/2006/relationships" id="265" r:id="Refee296dc92f4b66"/>
    <p:sldId xmlns:r="http://schemas.openxmlformats.org/officeDocument/2006/relationships" id="266" r:id="Re3c5ce354a904291"/>
    <p:sldId xmlns:r="http://schemas.openxmlformats.org/officeDocument/2006/relationships" id="267" r:id="Rdf4d4e0b59664f7d"/>
    <p:sldId xmlns:r="http://schemas.openxmlformats.org/officeDocument/2006/relationships" id="268" r:id="R26fd2c20259242b1"/>
    <p:sldId xmlns:r="http://schemas.openxmlformats.org/officeDocument/2006/relationships" id="269" r:id="R65c2448affac4fe3"/>
    <p:sldId xmlns:r="http://schemas.openxmlformats.org/officeDocument/2006/relationships" id="270" r:id="Rffb9d23bc1334c4e"/>
    <p:sldId xmlns:r="http://schemas.openxmlformats.org/officeDocument/2006/relationships" id="271" r:id="R95034de2e1244e72"/>
    <p:sldId xmlns:r="http://schemas.openxmlformats.org/officeDocument/2006/relationships" id="272" r:id="Rea9e9f8abe7545c1"/>
    <p:sldId xmlns:r="http://schemas.openxmlformats.org/officeDocument/2006/relationships" id="273" r:id="R3c162117edc24fa4"/>
    <p:sldId xmlns:r="http://schemas.openxmlformats.org/officeDocument/2006/relationships" id="274" r:id="R299921e2f48a464f"/>
    <p:sldId xmlns:r="http://schemas.openxmlformats.org/officeDocument/2006/relationships" id="275" r:id="Raf8bef57655d458a"/>
    <p:sldId xmlns:r="http://schemas.openxmlformats.org/officeDocument/2006/relationships" id="276" r:id="R6d47663600ac4464"/>
    <p:sldId xmlns:r="http://schemas.openxmlformats.org/officeDocument/2006/relationships" id="277" r:id="Rbfc93bbcb5954326"/>
    <p:sldId xmlns:r="http://schemas.openxmlformats.org/officeDocument/2006/relationships" id="278" r:id="R15cd99759ebc4c82"/>
    <p:sldId xmlns:r="http://schemas.openxmlformats.org/officeDocument/2006/relationships" id="279" r:id="R26bb40c84e8e42e4"/>
    <p:sldId xmlns:r="http://schemas.openxmlformats.org/officeDocument/2006/relationships" id="280" r:id="Rd0cc4e7e9d2f468e"/>
    <p:sldId xmlns:r="http://schemas.openxmlformats.org/officeDocument/2006/relationships" id="281" r:id="Rda74aa20130f4da7"/>
    <p:sldId xmlns:r="http://schemas.openxmlformats.org/officeDocument/2006/relationships" id="282" r:id="Re47af6f342ab4df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df39ed5cf4441b" /><Relationship Type="http://schemas.openxmlformats.org/officeDocument/2006/relationships/slideMaster" Target="/ppt/slideMasters/slideMaster1.xml" Id="Rc596c971f5dd47ec" /><Relationship Type="http://schemas.openxmlformats.org/officeDocument/2006/relationships/notesMaster" Target="/ppt/notesMasters/notesMaster1.xml" Id="R5f0edbf86b6e46e0" /><Relationship Type="http://schemas.openxmlformats.org/officeDocument/2006/relationships/presProps" Target="/ppt/presProps.xml" Id="R7357df3cca764cc4" /><Relationship Type="http://schemas.openxmlformats.org/officeDocument/2006/relationships/tableStyles" Target="/ppt/tableStyles.xml" Id="R51e99d123741459b" /><Relationship Type="http://schemas.openxmlformats.org/officeDocument/2006/relationships/slide" Target="/ppt/slides/slide1.xml" Id="R6740d15e34634079" /><Relationship Type="http://schemas.openxmlformats.org/officeDocument/2006/relationships/slide" Target="/ppt/slides/slide2.xml" Id="Rbec33780c02747a8" /><Relationship Type="http://schemas.openxmlformats.org/officeDocument/2006/relationships/slide" Target="/ppt/slides/slide3.xml" Id="R58209371481a4ee8" /><Relationship Type="http://schemas.openxmlformats.org/officeDocument/2006/relationships/slide" Target="/ppt/slides/slide4.xml" Id="Rff589f8b5d1742c2" /><Relationship Type="http://schemas.openxmlformats.org/officeDocument/2006/relationships/slide" Target="/ppt/slides/slide5.xml" Id="Ra9349eeaee59488b" /><Relationship Type="http://schemas.openxmlformats.org/officeDocument/2006/relationships/slide" Target="/ppt/slides/slide6.xml" Id="R2ba5a71164f44520" /><Relationship Type="http://schemas.openxmlformats.org/officeDocument/2006/relationships/slide" Target="/ppt/slides/slide7.xml" Id="Re5fa24b2e2184ea5" /><Relationship Type="http://schemas.openxmlformats.org/officeDocument/2006/relationships/slide" Target="/ppt/slides/slide8.xml" Id="Rb99ffc44cb34443f" /><Relationship Type="http://schemas.openxmlformats.org/officeDocument/2006/relationships/slide" Target="/ppt/slides/slide9.xml" Id="R27b5108a57aa48bb" /><Relationship Type="http://schemas.openxmlformats.org/officeDocument/2006/relationships/slide" Target="/ppt/slides/slide10.xml" Id="Refee296dc92f4b66" /><Relationship Type="http://schemas.openxmlformats.org/officeDocument/2006/relationships/slide" Target="/ppt/slides/slide11.xml" Id="Re3c5ce354a904291" /><Relationship Type="http://schemas.openxmlformats.org/officeDocument/2006/relationships/slide" Target="/ppt/slides/slide12.xml" Id="Rdf4d4e0b59664f7d" /><Relationship Type="http://schemas.openxmlformats.org/officeDocument/2006/relationships/slide" Target="/ppt/slides/slide13.xml" Id="R26fd2c20259242b1" /><Relationship Type="http://schemas.openxmlformats.org/officeDocument/2006/relationships/slide" Target="/ppt/slides/slide14.xml" Id="R65c2448affac4fe3" /><Relationship Type="http://schemas.openxmlformats.org/officeDocument/2006/relationships/slide" Target="/ppt/slides/slide15.xml" Id="Rffb9d23bc1334c4e" /><Relationship Type="http://schemas.openxmlformats.org/officeDocument/2006/relationships/slide" Target="/ppt/slides/slide16.xml" Id="R95034de2e1244e72" /><Relationship Type="http://schemas.openxmlformats.org/officeDocument/2006/relationships/slide" Target="/ppt/slides/slide17.xml" Id="Rea9e9f8abe7545c1" /><Relationship Type="http://schemas.openxmlformats.org/officeDocument/2006/relationships/slide" Target="/ppt/slides/slide18.xml" Id="R3c162117edc24fa4" /><Relationship Type="http://schemas.openxmlformats.org/officeDocument/2006/relationships/slide" Target="/ppt/slides/slide19.xml" Id="R299921e2f48a464f" /><Relationship Type="http://schemas.openxmlformats.org/officeDocument/2006/relationships/slide" Target="/ppt/slides/slide20.xml" Id="Raf8bef57655d458a" /><Relationship Type="http://schemas.openxmlformats.org/officeDocument/2006/relationships/slide" Target="/ppt/slides/slide21.xml" Id="R6d47663600ac4464" /><Relationship Type="http://schemas.openxmlformats.org/officeDocument/2006/relationships/slide" Target="/ppt/slides/slide22.xml" Id="Rbfc93bbcb5954326" /><Relationship Type="http://schemas.openxmlformats.org/officeDocument/2006/relationships/slide" Target="/ppt/slides/slide23.xml" Id="R15cd99759ebc4c82" /><Relationship Type="http://schemas.openxmlformats.org/officeDocument/2006/relationships/slide" Target="/ppt/slides/slide24.xml" Id="R26bb40c84e8e42e4" /><Relationship Type="http://schemas.openxmlformats.org/officeDocument/2006/relationships/slide" Target="/ppt/slides/slide25.xml" Id="Rd0cc4e7e9d2f468e" /><Relationship Type="http://schemas.openxmlformats.org/officeDocument/2006/relationships/slide" Target="/ppt/slides/slide26.xml" Id="Rda74aa20130f4da7" /><Relationship Type="http://schemas.openxmlformats.org/officeDocument/2006/relationships/slide" Target="/ppt/slides/slide27.xml" Id="Re47af6f342ab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4a941e1a51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c311fe80e4627" /><Relationship Type="http://schemas.openxmlformats.org/officeDocument/2006/relationships/notesMaster" Target="/ppt/notesMasters/notesMaster1.xml" Id="R84935980c17448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e8e6031ea74a8e" /><Relationship Type="http://schemas.openxmlformats.org/officeDocument/2006/relationships/notesMaster" Target="/ppt/notesMasters/notesMaster1.xml" Id="Re0b721dc064048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09c1d2f324b11" /><Relationship Type="http://schemas.openxmlformats.org/officeDocument/2006/relationships/notesMaster" Target="/ppt/notesMasters/notesMaster1.xml" Id="Rf606ef8bcf37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08a5ef62db4852" /><Relationship Type="http://schemas.openxmlformats.org/officeDocument/2006/relationships/notesMaster" Target="/ppt/notesMasters/notesMaster1.xml" Id="R072e3d2ba4ea44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9ab7c5345c4ec3" /><Relationship Type="http://schemas.openxmlformats.org/officeDocument/2006/relationships/notesMaster" Target="/ppt/notesMasters/notesMaster1.xml" Id="R04c74cb11541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119e8235841b3" /><Relationship Type="http://schemas.openxmlformats.org/officeDocument/2006/relationships/notesMaster" Target="/ppt/notesMasters/notesMaster1.xml" Id="R8e8e4a59fce740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dbe744988411e" /><Relationship Type="http://schemas.openxmlformats.org/officeDocument/2006/relationships/notesMaster" Target="/ppt/notesMasters/notesMaster1.xml" Id="Rf407c1f79a624b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38ff6bf7044fd" /><Relationship Type="http://schemas.openxmlformats.org/officeDocument/2006/relationships/notesMaster" Target="/ppt/notesMasters/notesMaster1.xml" Id="R790ce37ca90747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d06aeb45649b1" /><Relationship Type="http://schemas.openxmlformats.org/officeDocument/2006/relationships/notesMaster" Target="/ppt/notesMasters/notesMaster1.xml" Id="R3b6e873456634f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8430e166654f9b" /><Relationship Type="http://schemas.openxmlformats.org/officeDocument/2006/relationships/notesMaster" Target="/ppt/notesMasters/notesMaster1.xml" Id="R416c115be7b948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a0606258374794" /><Relationship Type="http://schemas.openxmlformats.org/officeDocument/2006/relationships/notesMaster" Target="/ppt/notesMasters/notesMaster1.xml" Id="R0fee1879d3f345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524793c1394280" /><Relationship Type="http://schemas.openxmlformats.org/officeDocument/2006/relationships/notesMaster" Target="/ppt/notesMasters/notesMaster1.xml" Id="Re47f53f4841548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fd5889f0444893" /><Relationship Type="http://schemas.openxmlformats.org/officeDocument/2006/relationships/notesMaster" Target="/ppt/notesMasters/notesMaster1.xml" Id="R277ada41014a47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1c36ecba6d4283" /><Relationship Type="http://schemas.openxmlformats.org/officeDocument/2006/relationships/notesMaster" Target="/ppt/notesMasters/notesMaster1.xml" Id="Rdabf3ec0db9843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fb55ca1f5b4046" /><Relationship Type="http://schemas.openxmlformats.org/officeDocument/2006/relationships/notesMaster" Target="/ppt/notesMasters/notesMaster1.xml" Id="R7887578df35f42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426678036b49d0" /><Relationship Type="http://schemas.openxmlformats.org/officeDocument/2006/relationships/notesMaster" Target="/ppt/notesMasters/notesMaster1.xml" Id="R38c583a7a0094d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ad61aaeb7f413c" /><Relationship Type="http://schemas.openxmlformats.org/officeDocument/2006/relationships/notesMaster" Target="/ppt/notesMasters/notesMaster1.xml" Id="R2e9970924a4844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35b3bfabb04e02" /><Relationship Type="http://schemas.openxmlformats.org/officeDocument/2006/relationships/notesMaster" Target="/ppt/notesMasters/notesMaster1.xml" Id="R0fd2f52167c44d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510aaa59e242d1" /><Relationship Type="http://schemas.openxmlformats.org/officeDocument/2006/relationships/notesMaster" Target="/ppt/notesMasters/notesMaster1.xml" Id="R5be6b34a28104c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ef76782aa54689" /><Relationship Type="http://schemas.openxmlformats.org/officeDocument/2006/relationships/notesMaster" Target="/ppt/notesMasters/notesMaster1.xml" Id="R0a761ab3996e4f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a71b2464044167" /><Relationship Type="http://schemas.openxmlformats.org/officeDocument/2006/relationships/notesMaster" Target="/ppt/notesMasters/notesMaster1.xml" Id="Rcc9ac2d2b68243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161422df0b445d" /><Relationship Type="http://schemas.openxmlformats.org/officeDocument/2006/relationships/notesMaster" Target="/ppt/notesMasters/notesMaster1.xml" Id="R12deb81c2ec544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03b97000f240ce" /><Relationship Type="http://schemas.openxmlformats.org/officeDocument/2006/relationships/notesMaster" Target="/ppt/notesMasters/notesMaster1.xml" Id="Rbbde7957744141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5ab9b67d264cdf" /><Relationship Type="http://schemas.openxmlformats.org/officeDocument/2006/relationships/notesMaster" Target="/ppt/notesMasters/notesMaster1.xml" Id="Rbc85cb31d0924a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f6df8789824b6c" /><Relationship Type="http://schemas.openxmlformats.org/officeDocument/2006/relationships/notesMaster" Target="/ppt/notesMasters/notesMaster1.xml" Id="R8769986fed8c47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b0626c2e7a49b9" /><Relationship Type="http://schemas.openxmlformats.org/officeDocument/2006/relationships/notesMaster" Target="/ppt/notesMasters/notesMaster1.xml" Id="R8d9b3f073ca549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64908e292294870" /><Relationship Type="http://schemas.openxmlformats.org/officeDocument/2006/relationships/notesMaster" Target="/ppt/notesMasters/notesMaster1.xml" Id="R2dddfdedfb10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技術仕様の参考資料（2026-09-27確認）：</a:t>
            </a:r>
          </a:p>
          <a:p xmlns:a="http://schemas.openxmlformats.org/drawingml/2006/main">
            <a:r>
              <a:t>https://docs.aws.amazon.com/vpn/latest/s2svpn/how_it_works.html</a:t>
            </a:r>
          </a:p>
          <a:p xmlns:a="http://schemas.openxmlformats.org/drawingml/2006/main">
            <a:r>
              <a:t>https://docs.aws.amazon.com/vpn/latest/s2svpn/vpn-redundant-connection.html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技術仕様の参考資料（2026-09-27確認）：</a:t>
            </a:r>
          </a:p>
          <a:p xmlns:a="http://schemas.openxmlformats.org/drawingml/2006/main">
            <a:r>
              <a:t>https://learn.microsoft.com/en-us/windows-server/networking/technologies/nps/nps-plan-server</a:t>
            </a:r>
          </a:p>
          <a:p xmlns:a="http://schemas.openxmlformats.org/drawingml/2006/main">
            <a:r>
              <a:t>https://learn.microsoft.com/en-us/troubleshoot/windows-server/networking/certificate-requirements-eap-tls-peap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検証用の架空案件。ユーザー指定の背景以外の人数・台数・アドレス・日付・性能値はシナリオ上の仮定。</a:t>
            </a:r>
          </a:p>
          <a:p xmlns:a="http://schemas.openxmlformats.org/drawingml/2006/main">
            <a:r>
              <a:t>外部案件資料の引用なし。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d5431dfb6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fbf65ea6b64550" /><Relationship Type="http://schemas.openxmlformats.org/officeDocument/2006/relationships/slideLayout" Target="/ppt/slideLayouts/slideLayout1.xml" Id="R51afad7b810f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fad7b810f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84c8dc0354f0b" /><Relationship Type="http://schemas.openxmlformats.org/officeDocument/2006/relationships/notesSlide" Target="/ppt/notesSlides/notesSlide1.xml" Id="Red0f9aa562c8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9c4e032324871" /><Relationship Type="http://schemas.openxmlformats.org/officeDocument/2006/relationships/notesSlide" Target="/ppt/notesSlides/notesSlide2.xml" Id="R827a523b235749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7f49dde554a82" /><Relationship Type="http://schemas.openxmlformats.org/officeDocument/2006/relationships/notesSlide" Target="/ppt/notesSlides/notesSlide3.xml" Id="Ra6caa291c96248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033a0f6c44e5d" /><Relationship Type="http://schemas.openxmlformats.org/officeDocument/2006/relationships/notesSlide" Target="/ppt/notesSlides/notesSlide4.xml" Id="R7e070f5a0f8742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ced1890a2426a" /><Relationship Type="http://schemas.openxmlformats.org/officeDocument/2006/relationships/notesSlide" Target="/ppt/notesSlides/notesSlide5.xml" Id="Rf142c1ce4cc9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2e49823b4875" /><Relationship Type="http://schemas.openxmlformats.org/officeDocument/2006/relationships/notesSlide" Target="/ppt/notesSlides/notesSlide6.xml" Id="R97a44f07c53748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3703de7a2448f" /><Relationship Type="http://schemas.openxmlformats.org/officeDocument/2006/relationships/notesSlide" Target="/ppt/notesSlides/notesSlide7.xml" Id="R56b1d4a9975e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397dcf9fd4627" /><Relationship Type="http://schemas.openxmlformats.org/officeDocument/2006/relationships/notesSlide" Target="/ppt/notesSlides/notesSlide8.xml" Id="R7c970bb426ab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45559749843b5" /><Relationship Type="http://schemas.openxmlformats.org/officeDocument/2006/relationships/notesSlide" Target="/ppt/notesSlides/notesSlide9.xml" Id="Rebe8fc7066dd40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87a0ab14f41ea" /><Relationship Type="http://schemas.openxmlformats.org/officeDocument/2006/relationships/notesSlide" Target="/ppt/notesSlides/notesSlide10.xml" Id="R8de345c8c7cf42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1df529b94c62" /><Relationship Type="http://schemas.openxmlformats.org/officeDocument/2006/relationships/notesSlide" Target="/ppt/notesSlides/notesSlide11.xml" Id="R2b49ad3f2d9c4a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eec4893e54d35" /><Relationship Type="http://schemas.openxmlformats.org/officeDocument/2006/relationships/notesSlide" Target="/ppt/notesSlides/notesSlide12.xml" Id="R41f918df57e640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7236c2b134170" /><Relationship Type="http://schemas.openxmlformats.org/officeDocument/2006/relationships/notesSlide" Target="/ppt/notesSlides/notesSlide13.xml" Id="Rabef4b9b22ad4e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7d9db5ac442db" /><Relationship Type="http://schemas.openxmlformats.org/officeDocument/2006/relationships/notesSlide" Target="/ppt/notesSlides/notesSlide14.xml" Id="R62c4daa5362d4f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25d95901b4301" /><Relationship Type="http://schemas.openxmlformats.org/officeDocument/2006/relationships/notesSlide" Target="/ppt/notesSlides/notesSlide15.xml" Id="Racbe953d94964a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b4e1464eb43b2" /><Relationship Type="http://schemas.openxmlformats.org/officeDocument/2006/relationships/notesSlide" Target="/ppt/notesSlides/notesSlide16.xml" Id="R4035efaf213548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f2bb842d0412f" /><Relationship Type="http://schemas.openxmlformats.org/officeDocument/2006/relationships/notesSlide" Target="/ppt/notesSlides/notesSlide17.xml" Id="R891d361a5dfc47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689b578814b77" /><Relationship Type="http://schemas.openxmlformats.org/officeDocument/2006/relationships/notesSlide" Target="/ppt/notesSlides/notesSlide18.xml" Id="R9bf7ce2640a245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09e3cb82a4389" /><Relationship Type="http://schemas.openxmlformats.org/officeDocument/2006/relationships/notesSlide" Target="/ppt/notesSlides/notesSlide19.xml" Id="R8e88eb28c2ed42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c67c397647b3" /><Relationship Type="http://schemas.openxmlformats.org/officeDocument/2006/relationships/notesSlide" Target="/ppt/notesSlides/notesSlide20.xml" Id="R361ea37fdc4041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4c289724b4133" /><Relationship Type="http://schemas.openxmlformats.org/officeDocument/2006/relationships/notesSlide" Target="/ppt/notesSlides/notesSlide21.xml" Id="R326f6d6c7dfb4f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21fb55b7f43f9" /><Relationship Type="http://schemas.openxmlformats.org/officeDocument/2006/relationships/notesSlide" Target="/ppt/notesSlides/notesSlide22.xml" Id="R3f39609a6cb149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e4b1ff01457c" /><Relationship Type="http://schemas.openxmlformats.org/officeDocument/2006/relationships/notesSlide" Target="/ppt/notesSlides/notesSlide23.xml" Id="Rbb9ff48305314c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386f3290e4051" /><Relationship Type="http://schemas.openxmlformats.org/officeDocument/2006/relationships/notesSlide" Target="/ppt/notesSlides/notesSlide24.xml" Id="R24467cbe711347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8f41266f34f56" /><Relationship Type="http://schemas.openxmlformats.org/officeDocument/2006/relationships/notesSlide" Target="/ppt/notesSlides/notesSlide25.xml" Id="R544dafe0717348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36a483594b25" /><Relationship Type="http://schemas.openxmlformats.org/officeDocument/2006/relationships/notesSlide" Target="/ppt/notesSlides/notesSlide26.xml" Id="R9638b640bc9147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73a3c138c497c" /><Relationship Type="http://schemas.openxmlformats.org/officeDocument/2006/relationships/notesSlide" Target="/ppt/notesSlides/notesSlide27.xml" Id="R255eda1dd1bb4b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EF94-36B8-4EC2-ACAE-52024346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1379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DDE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A9DDE0"/>
                </a:solidFill>
                <a:latin typeface="Noto Sans JP"/>
                <a:ea typeface="Noto Sans JP"/>
                <a:cs typeface="Noto Sans JP"/>
              </a:rPr>
              <a:t>架空案件の要件定義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DD270-141E-467C-B2A1-73CEA7F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3792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5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ネットワーク更改・AWS移行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5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要件定義書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B5694-EF8D-4E6D-B209-1D93CDD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14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rPr>
              <a:t>株式会社サンプル機工（架空）</a:t>
            </a:r>
          </a:p>
          <a:p xmlns:a="http://schemas.openxmlformats.org/drawingml/2006/main">
            <a:pPr>
              <a:defRPr sz="24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rPr>
              <a:t>センター1拠点・事業所3拠点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E2047-DFD6-49D3-895C-A2E0E2D8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1314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DDE9EE"/>
                </a:solidFill>
                <a:latin typeface="Noto Sans JP"/>
                <a:ea typeface="Noto Sans JP"/>
                <a:cs typeface="Noto Sans JP"/>
              </a:rPr>
              <a:t>ダミー案件 ／ 設計入力用 ／ 第1.0版 ／ 2026年9月27日</a:t>
            </a:r>
          </a:p>
        </p:txBody>
      </p:sp>
    </p:spTree>
    <p:extLst>
      <p:ext uri="{BB962C8B-B14F-4D97-AF65-F5344CB8AC3E}">
        <p14:creationId xmlns:p14="http://schemas.microsoft.com/office/powerpoint/2010/main" val="551138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3F0F4-DF51-4D65-BAFD-595E932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本書の位置づけと記載区分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A4CB4-09E4-4B9F-B86A-03FCDC2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実案件の情報を含まない、設計・資料生成の検証用シナリオ。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10810875"/>
              </a:tblGrid>
              <a:tr h="8763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本書での扱い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与件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センターと3事業所、閉域網上のIPsec、WANルータ・PoE・無線LAN、RADIUS認証。保守更新に合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わせてAWSへ一部移行する。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架空の現行事実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会社、人数、機器台数、IP、障害履歴、契約期限は本書で設定したダミー情報。実機の調査結果で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はない。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必須／希望／参考案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必須は検収対象。希望は費用・効果を評価して採否を決める。参考案は設計候補であり、確定設定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として扱わない。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未決事項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Q-01〜Q-08は回答待ち。設計者は質問票へ転記し、合意前に機種・設定値・認証情報を補完しない。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62228-4520-4A09-8F61-2A697224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本文の要件IDを設計書・パラメータ・Config・試験項目の追跡キーとして使用する。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26C17-7BA2-4D7E-AFA7-1746B58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E6467-4E6B-4C30-8547-B90CE346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829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BBADF-B4B4-482C-A2F9-09B0A827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更改の背景と事業目標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B6F6-C9A8-4C64-82B7-56DDD31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2027年6月末の保守契約満了までに、段階移行を完了する。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10810875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架空案件の前提・要求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事業背景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精密部品の製造・販売。情報システム担当4名が4拠点を管理。現行ネットワークは2021年導入、在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宅勤務増加と端末増により負荷が上昇。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REQ-BIZ-01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WANルータ、PoEスイッチ、AP、センター境界FWを更改し、検収後5年間の保守と更新計画を提示す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REQ-BIZ-02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認証、DNS、ファイル共有、社内ポータル、監視・ログをAWSへ移行。生産制御と一部連携サーバは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センターに残す。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REQ-BIZ-03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2027年6月20日までに最終検収。旧機器は6月30日まで切戻し可能な状態で保管する。契約満了は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メーカーEOLとは別の設定。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EAEE8-41BC-4DF2-91AE-83A43CF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予算上限は未決（Q-01）。初期費用と5年間の運用費を分けて見積もる。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F3176-E6AE-498F-9585-518FBB39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308DA-54E2-4601-8A7D-F3EB31DF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8897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6CFCC-3DA9-49CC-BFFF-3E414FC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拠点・利用者・接続端末の規模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2E9D6-3BE5-4072-BFEE-7E65CCA6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現員300名、3年後360名を想定。端末数は人数とは別に設計する。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1547813"/>
                <a:gridCol w="2024063"/>
                <a:gridCol w="4000500"/>
                <a:gridCol w="2143125"/>
              </a:tblGrid>
              <a:tr h="112395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拠点／役割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従業員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管理端末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無線同時接続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現行ピーク／設計値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現行AP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8286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 センター／本社・情報基盤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120名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100台 ／ 150台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BR1 東事業所／営業・設計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80名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65台 ／ 100台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8286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BR2 西事業所／製造・物流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60名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45台 ／ 70台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BR3 南事業所／保守・営業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40名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50台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30台 ／ 50台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8286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300名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380台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240台 ／ 370台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22台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83C93-A941-4C46-B91A-DD3EEA76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管理端末はPC・業務タブレット。プリンタ等は別途CTR 20台、BR1 12台、BR2 18台、BR3 8台。来訪者は各拠点最大20台を別枠で収容。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2192F-2117-41E8-B7BD-9F3C03F5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1A642-6A89-4A71-A7D3-C8FBD227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5122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E3720-C5FB-48D1-BF94-96E7972F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現行のLAN・機器構成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EF681-AC08-4DD7-A939-186E4DA7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各LANはWANルータ、PoEスイッチ、APの順に接続。サーバはセンターに集中。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7262813"/>
                <a:gridCol w="4262438"/>
              </a:tblGrid>
              <a:tr h="75819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現行構成・数量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単一障害点／補足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34874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WANルータ2台（待機系あり）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PoEスイッチ48ポート×4台、AP×8台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境界FW×2台、サーバ接続SW×2台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閉域アクセス回線は1本。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RADIUSは仮想サーバ1台。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サーバ接続SWはPoE集計外。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05346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BR1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WANルータ1台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PoEスイッチ48ポート×3台、AP×6台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ルータ・回線が単一。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SW上位接続は1Gbps。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05346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BR2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WANルータ1台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PoEスイッチ48ポート×2台、AP×5台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一部製造端末は有線。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PoE電力の実測値が未取得。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05346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BR3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WANルータ1台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PoEスイッチ48ポート×2台、AP×3台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予備APなし。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障害時は翌営業日対応。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B8E65-56A3-4712-A75D-28679CDD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現行はベンダー非特定の架空機器。新機種は性能・相互接続試験と保守条件で選定する（Q-02）。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DA8BC-738F-4E8F-A653-DD6E52DE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40685-80D7-4953-906B-1360701A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6228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4A5FE-165A-4787-A57A-C4858CA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現行WANとIPsecの設定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ED0F3-97B0-42E5-AFC5-0648E624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閉域網は通信経路を分離し、拠点間の暗号化はIPsecで実施する。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10810875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架空の現行設定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回線・接続形態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閉域IP-VPN。CTR 200Mbps、BR1 100Mbps、BR2 100Mbps、BR3 50Mbps。各事業所からCTRへ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のハブ＆スポーク。拠点間通信はCTR経由。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トンネル・暗号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事業所ごとに論理IPsecトンネル1本。IKEv2、PSK、AES-256-CBC／SHA-256、DH14、PFS14。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IKE 28,800秒、IPsec 3,600秒。鍵値は掲載しない。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アドレス・経路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閉域WAN側は10.255.0.0/24から払い出し。CTR仮想IP .10、BR1 .21、BR2 .22、BR3 .23。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各拠点の経路は静的、アンダーレイとトンネル経路は分離。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インターネット出口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業務通信はCTRのFWと1Gbps回線に集約。拠点インターネット回線とゲストSSIDは未導入。IPsec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 DPD 10秒×3回、内側MTU 1400は現行設定値。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9DD5B-C793-4755-BA75-729D1F5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MTU、DPD、暗号条件は新機器・AWSとの相互接続評価で再決定する。現行値をそのまま転記しない。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4A09B-ABA4-4B85-8699-CDDDC2B9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54701-0B15-4CD0-8863-F3CD9C87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9829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C7FCF-BB74-4B06-B336-7BDC5AC7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現行IPアドレス・VLAN台帳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6CC94-ED63-4D68-B183-117A702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拠点ごとに第2オクテットを分け、VLAN IDは全拠点で統一している。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2690813"/>
                <a:gridCol w="2690813"/>
                <a:gridCol w="2690813"/>
                <a:gridCol w="2690813"/>
              </a:tblGrid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用途／VLAN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BR1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BR2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BR3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有線業務／10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10.10.10.0/24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10.20.10.0/24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10.30.10.0/24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10.40.10.0/24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社内無線／20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10.10.20.0/24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10.20.20.0/24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10.30.20.0/24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10.40.20.0/24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プリンタ等／30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10.10.30.0/24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10.20.30.0/24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10.30.30.0/24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10.40.30.0/24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管理／99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10.10.99.0/24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10.20.99.0/24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10.30.99.0/24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10.40.99.0/24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877887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サーバ／100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10.10.100.0/24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E49C6-22B1-4DFE-B9F5-DD581261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各GWは.1。VLAN10・20は各拠点ルータがDHCP配布（.50〜.230、8時間）。VLAN30・99・100は固定。10.0.0.0/8全体を一括広告しない。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1D802-5074-4C81-B7D1-84D8E7B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919C8-A53B-4EAC-8040-ED468322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9405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AB467-DFA3-425C-92C2-E0E26E00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現行の無線LAN・認証基盤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4F95A-E595-468E-A69F-01CEA11D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センターのNPSとAD DSに依存し、WAN断時の新規認証が業務リスクとなっている。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10810875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架空の現行設定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無線LAN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SSID：SK-CORP。WPA2-Enterprise、802.1X／PEAP-MSCHAPv2。各APはローカル転送・分散管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理。利用者はVLAN20、AP管理はVLAN99。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RADIUS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CTR-NPS01：10.10.100.20。APがRADIUSクライアント。認証UDP1812、Accounting 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UDP1813。各APの管理IPを登録し、共有秘密は機器別に管理。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 DS・DNS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CTR-DC01：10.10.100.10、CTR-DC02：10.10.100.11。ADドメインcorp.example.com。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NPSはAD参加。端末はDNSとサーバ証明書の検証に依存。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障害時の現状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2026年5月に閉域回線断が45分発生。新規無線接続は不可、既存接続も再認証で切断。RADIUS無応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答で認証を省略する運用は行っていない。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EBC80-1140-464D-A347-2FC8CAC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example.comとすべてのアドレスはダミー用途。実在する会社・環境の値を含まない。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B4362-B1FB-4B85-B2AA-45ABA685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65F76-8378-4C3F-B0BE-4DFF95A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3677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DA8CA-760C-453E-9B54-BE72C6C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現行システムと移行先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CFEA9-6480-4BF7-8E0E-55EB8B5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認証を含む情報系基盤をAWSへ移し、装置依存の業務だけをオンプレミスに残す。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45781"/>
                <a:gridCol w="4643438"/>
                <a:gridCol w="4917281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システム／現行IP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移行方針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継続条件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 DS・DNS .10／.11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 .20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 EC2へ役割を移行。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AD・DNSとNPSは別サーバ各2台。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既存ADドメインと利用者IDを維持。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認証サーバの二重化を必須とする。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 .30／ポータル .40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AWSへ移行。ファイル2TB、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ポータルはHTTPS利用。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パス・FQDNの変更を最小化。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データ整合性とアクセス権を照合。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監視・ログ .50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オンライン発行CA .60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AWSへ移行。オフライン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ルートCAはオフライン保管を継続。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ログ欠落・証明書期限切れを監視。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CRL公開先を端末から到達可能にする。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生産管理 .70／装置連携 .80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CTRの10.10.100.0/24に残置。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サーバ更新・アプリ改修は対象外。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固定IPを維持。BR2製造端末から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低遅延通信が必要。依存先を確認。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D4C8D-8B91-4237-A31A-265640A0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現行IPの省略部分は10.10.100。AWS上の製品・OS版・ファイル方式はQ-03で決定する。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24B49-D48F-4D8F-8AAF-59DC4199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2046A-09A8-48A0-94BC-4D85604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8819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1DD61-868E-479C-A979-A1CE2F04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現行課題と改善要求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12525-43BA-4608-AA8F-9CFA201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可用性だけでなく、設計情報の散在と変更時の確認漏れを解消する。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5715000"/>
                <a:gridCol w="5334000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課題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架空の観測・背景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改善要求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認証・回線への依存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NPS単一構成。全拠点のWeb通信が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CTRに集中し、センター障害が波及。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REQ-AVL-01 必須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単一回線・単一装置障害の影響を限定。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帯域逼迫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BR3の閉域回線は月末の業務時間帯に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5分平均85％。ファイル転送が競合。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REQ-PER-01 必須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設計負荷時の遅延と帯域余裕を確保。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無線の混雑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BR1会議室でピーク時1APあたり45台。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一部倉庫に電波が弱い場所がある。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REQ-WLAN-01 必須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現地調査と負荷試験で配置を決定。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管理情報の不整合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機器台帳・IP台帳・Configを別管理。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故障交換後の台帳更新が遅れている。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REQ-DOC-01 必須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成果物間のIP・VLAN・ホスト名を一致。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300F9-60BC-4833-983D-1820593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観測値・障害履歴はすべてシナリオ用の仮定。改善効果の実測値ではない。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62773-B799-4880-920C-FA447FEB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A9F38-9718-4F8E-947B-A9418273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5198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DDD0D-36F1-4B40-9B78-9E045DA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プロジェクトの範囲と分担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E5BBA-B212-43EF-A7C0-C8D07BCE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ネットワークとクラウド基盤の責任範囲を分け、接続試験は共同で実施する。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59844"/>
                <a:gridCol w="6727031"/>
                <a:gridCol w="4619625"/>
              </a:tblGrid>
              <a:tr h="69913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担当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対象範囲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範囲外／引継ぎ条件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28968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ネットワーク担当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4拠点のルータ・FW・PoE・AP、回線、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IPsec、経路、VLAN、DHCP、ACL。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AWS接続側のBGP条件を共同設計。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建屋増築・全面配線更新は対象外。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ケーブル・UPSは調査後に不足分を見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28968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クラウド・ID担当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AWSネットワーク、EC2、AD・DNS、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NPS、PKI、監視・バックアップ。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セキュリティグループと経路を設計。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アプリコード改修は対象外。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移行手順・復旧手順をNW担当へ提示。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9441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業務担当・発注者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ファイル・ポータルのデータ移行、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生産管理の受入試験、停止承認。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業務整合性と利用者周知に責任。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設計・例外・検収は発注者が承認。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REQ-SCP-01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NW、ID、業務の依存関係と作業順を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統合移行計画へまとめる。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個別担当の完了だけで検収しない。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拠点端末から業務完了まで確認する。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25AAC-2366-4481-A615-E72BAA4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本書は要求を定義する。完成Config、最終配線図、機種別コマンドは後続設計で作成する。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7A6D1-1053-4AC3-823C-AF4BD78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93583-F982-4C8E-A53E-53AF739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7724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7900-B594-4130-86DB-092E531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更改後のWAN接続要件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7C6C9-9C8E-4596-88F9-39CBACE1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残置業務向けの閉域網を維持し、AWSは各拠点から直接接続する。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6429375"/>
                <a:gridCol w="4381500"/>
              </a:tblGrid>
              <a:tr h="64008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要求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参考案・設計確認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23063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REQ-WAN-01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閉域網上のIPsecを継続し、CTR残置業務と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許可した拠点間通信を収容する。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AWS接続と閉域網の障害影響を分離する。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閉域回線の帯域は実測で再評価。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残置業務の回線二重化は希望。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23063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REQ-WAN-02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各拠点にISPを分けたインターネット2回線を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用意し、AWSへ暗号化接続する。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1回線の障害で新規認証を継続できること。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ルータ／FWを2台構成とし、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回線・電源・収容局の共通故障点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を確認する。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23063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REQ-WAN-03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VPNには必要な拠点LAN経路のみ広告し、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拠点LANの送信元IPを維持する。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経路ループ・不要な拠点間中継を防止する。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 Transit Gateway、BGP、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回線別Customer Gatewayを候補。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NAT対象とVPN対象を分離。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REQ-WAN-04 希望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業務Webとゲスト通信は各拠点から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インターネットへ出し、FWで制御する。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出口分散の監査・URL制御方式と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追加費用をQ-04で決定する。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B0FF5-55BE-414B-BE58-A6FF4F5D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参考案は4拠点×2 VPN接続×2トンネル＝16トンネル。2トンネルだけでは拠点側装置・回線は二重化できない。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C8659-F02E-4DB6-950D-70CF6E72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51E79-3262-4AB4-8D33-79A3CB3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14781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2E7E2-05E6-4E79-B53D-B5DE9396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LAN・PoE・無線LANの要求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24774-3154-4F5F-A87D-5DC2E1A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既存LANのアドレスを維持し、無線容量と給電・上位接続の余裕を確保する。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10513219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要求・検収条件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REQ-LAN-01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既存VLAN10・20・30・99のアドレスとGW .1を維持。新機器の冗長方式、DHCP状態同期、切替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時のARP更新を設計する。拠点間でL2延伸しない。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REQ-LAN-02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各スイッチは収容ポートの20％以上を空きとし、設計時の最大PoE負荷に対して20％以上の電力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余裕を持つ。APの最大消費電力と給電規格で算定する。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REQ-WLAN-01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管理区域でRSSI -67dBm以上、SNR 25dB以上を測定点の95％以上で満たす。測定点は事前承認。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5GHzを主利用とし、2.4GHzは必要端末向けに限定する。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REQ-WLAN-02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社内SSID SK-CORPはVLAN20を継続。ゲストSSID SK-GUEST／VLAN40を新設し、インターネ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ットのみ許可。社内・管理・AWSへの経路を遮断する。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REQ-WLAN-03 希望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APはWi-Fi 6以上を候補とし、必要箇所の上位接続を高速化。AP台数は現行22台を基準に現地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調査で確定し、台数維持を制約にしない。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55BC-BA69-4E05-AE2E-79DD1F0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PoE余裕の定義：機器の給電可能容量≧接続機器の最大消費電力合計×1.2。給電停止時のAP復旧も試験する。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113C0-CE09-44F8-A314-A112BBC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0DE9B-5967-4C1C-8665-50B651BF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148157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5AAB3-7A71-4A40-9422-30136EEE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AWS・認証基盤の配置要件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4933-89EA-4313-9960-50084DB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認証関連の役割を2つのAZに分散し、認証のためのネットワークを先に確立する。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14688"/>
                <a:gridCol w="6786563"/>
                <a:gridCol w="3905250"/>
              </a:tblGrid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要求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参考配置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REQ-CLD-01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AWS東京リージョンを使用。AD・DNSと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NPSはそれぞれ異なるAZに2台配置し、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プライベートIPのみで提供する。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VPC 10.100.0.0/16。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基盤系と業務系のサブネット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を分離する。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REQ-ID-01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既存ADドメインを維持し、AD・DNSの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複製を先行。NPSの参照先と証明書を確認後、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APに新旧RADIUSを段階登録する。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新NPS×2を優先し、移行中は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旧NPSを管理された待機先に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する。恒久残置はしない。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REQ-CLD-02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DHCPは拠点内で継続。VPN装置の起動・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トンネル確立をRADIUS認証に依存させない。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DNS・NTP・失効情報への到達性を設計する。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管理アクセスはAWS側の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運用経路を別途確保。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認証の循環依存を避ける。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REQ-CLD-03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クラウドの経路、アクセス制御、ログ、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バックアップを設計書と構成管理に含める。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アカウント・IAM権限は発注者が承認する。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マルチリージョンDRは対象外。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AZ障害とリージョン障害を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分けて扱う。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CBC9D-8235-4B7C-9DF0-76F585D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AWSのサーバ・サービス構成は設計候補。採用製品、運用主体、ライセンスと復旧方式はQ-03・Q-06で確定。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78A70-1660-4A51-9596-86847C7C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AD063-E580-42D3-8C14-B8C46CB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13967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9C955-B978-4CC4-98A9-0C3D786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更改後のアドレス予約案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AD3F3-7AD1-4445-ACC4-7DA03FCD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既存4拠点のセグメントを維持し、AWS用に重複しない領域を予約する。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5953125"/>
                <a:gridCol w="4619625"/>
              </a:tblGrid>
              <a:tr h="69913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予約案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状態・制約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9441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既存LAN／ゲスト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10.{10,20,30,40}.{10,20,30,99}.0/24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新VLAN40：各拠点10.x.40.0/24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既存は維持必須。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ゲストは例：CTR 10.10.40.0/24。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28968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AWS基盤系／AZ別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10.100.10.0/24、10.100.11.0/24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AD/DNS：.10.10、.11.10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NPS：.10.20、.11.20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左記サーバIPの先頭は10.100。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AZ名・サブネットは参考案。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9441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AWS業務・運用系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業務：10.100.20.0/24、.21.0/24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運用：10.100.30.0/24、.31.0/24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省略部分の先頭は10.100。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サーバIPは後続台帳で確定。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28968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BGP・公開IP・命名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拠点ASN：CTR 65010、BR1 65020、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BR2 65030、BR3 65040。TGW 64512。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新ホスト名例：BR1-WAN01、BR1-AP01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ASNは重複確認前の予約案。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公開IPとトンネル内側IPは未定。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鍵・パスワードは台帳へ記載しない。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2EC55-7FF1-4110-81A7-E9C52FB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REQ-ADR-01 必須：経路広告は実在する必要セグメントへ限定。AWS・閉域・既存拠点・接続先との重複を全件照合する。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90DEA-0533-42D8-8D7B-DBF39F10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72EF6-C71D-43C1-BAC3-1824C5C0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137685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9AA3F-ADAC-4A39-BFD6-94B824C0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通信要件と許可方針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79A8C-7DB0-47BD-B034-426C0D1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業務通信と基盤通信を分け、許可した送信元・宛先・サービスだけを通す。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07656"/>
                <a:gridCol w="3750469"/>
                <a:gridCol w="6048375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ID／送信元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宛先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通信・条件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FLOW-01／全拠点AP管理IP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 NPS 2台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UDP1812・1813。IPsec内で送信、送信元をNATし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ない。APごとにRADIUS登録。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FLOW-02／管理端末・基盤サーバ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 AD・DNS／PKI／NTP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DNS、AD、時刻同期、CRL配布。ADのRPC動的ポート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を含む一覧をID担当が確定（Q-05）。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FLOW-03／業務VLAN10・20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AWSファイル／ポータル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SMB TCP445、HTTPS TCP443。必要な利用者・端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末だけ許可。インターネットへSMBを公開しない。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FLOW-04／BR2製造端末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CTR生産管理・装置連携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HTTPS TCP443、連携TCP8443を仮定。現行通信採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取で照合し、追加ポートは承認する。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FLOW-05／運用端末・ゲスト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管理対象／インターネット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運用は踏み台からSSH・HTTPS・SNMPv3等。ゲスト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は承認済みDNSとWebのみ。社内宛を拒否。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F0D64-6013-426A-9A81-FDD0C758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REQ-SEC-01 必須：本表を通信マトリクスへ展開し、戻り通信、方向、ログ、期限を定義。any-anyの恒久許可を禁止する。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6E73B-5CFE-4045-8D92-D28FC9C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525E3-2945-4B5F-B06C-6C986C7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28575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92479-8C51-45E2-8DE3-353E0FA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認証・証明書の移行要件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A8DE8-6F4B-48E7-8FC2-2023BEF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まず既存方式でAWS移行を安定させ、その後に端末証明書方式へ切り替える。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10513219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要求・例外の扱い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REQ-ID-02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AWS移行時はPEAP-MSCHAPv2の互換性を維持。その後、管理端末をEAP-TLSへ段階移行し、最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終検収までに全対象端末の接続を確認する。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REQ-ID-03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クライアントとNPSの証明書を配布・更新・失効できること。サーバ名、信頼CA、用途、有効期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限、失効確認を検証し、失効・期限切れ証明書の拒否を試験する。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REQ-ID-04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 1台停止時はもう1台で認証を継続。両系に到達不能の場合は新規認証を拒否し、認証なし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で社内VLANへ接続させない。既存接続の扱いはQ-07で確定。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REQ-ID-05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EAP-TLS非対応端末は一覧化し、期限付き例外を承認する。無条件の共通PSK・MAC認証への置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換を禁止。必要時は用途別VLANと通信制限を設ける。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REQ-ID-06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移行期間の新旧NPS間でポリシー差分を管理し、旧方式・旧NPSの廃止条件を定義。証明書配布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経路は無線未接続端末でも利用できるよう用意する。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7644C-02A5-42C4-93A0-E1F42E8B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PKIの配置だけではEAP-TLSは成立しない。端末管理・信頼設定・失効確認を含む試験で判定する。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4ACAB-8776-46B6-8563-A75C63BC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C5F42-0072-4638-9B8D-42C77AED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4041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787A-C7A0-4589-88F5-79EC8769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可用性と障害時の業務継続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7F20D-AADF-42C2-96DB-6698C0B8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AWS認証の継続と、センターに残る業務の継続を別の基準で評価する。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50469"/>
                <a:gridCol w="6369844"/>
                <a:gridCol w="3786188"/>
              </a:tblGrid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要件ID／障害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必須の動作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対象外・許容する制約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REQ-AVL-01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回線／WAN装置1系断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各拠点のAWS通信は60秒以内に回復。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既存セッションの再接続は許容するが、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新規の認証・業務接続を再開できること。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物理経路の完全分離は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キャリア調査で確認。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PoE単体故障は別扱い。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REQ-AVL-02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NPS1台／1AZ障害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NPS単体故障は新規認証30秒以内に成功。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1AZ障害時も残存AZでAD・DNS・認証を継続。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負荷試験で残存系の処理能力を確認。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ファイル・業務アプリは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別途RTO／RPOに従う。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REQ-AVL-03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拠点の両ISP断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AWS新規認証は停止を許容。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閉域網が生存していれば、認証済み端末や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有線端末による残置業務を可能な範囲で継続。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認証を省略した接続は禁止。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既存無線の維持時間は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Q-07の確認事項。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REQ-AVL-04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CTR全停止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事業所からAWS認証・情報系業務は継続。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残置生産管理とCTR経由の拠点間通信は停止を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許容。センター復旧手順を整備する。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AWSリージョン全停止の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即時継続は対象外。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復旧目標はQ-06で合意。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1386-E628-4CBE-AFBA-967793AC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障害の発生時刻から、端末の新規認証・業務疎通が成功するまでを測定する。トンネルUPだけで合格にしない。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F2976-EC06-457D-AB15-61E66F85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CDB2B-9FDA-4F9E-83BE-ACA5092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53998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41E4A-2AF6-4057-B277-EA175575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性能・容量・応答時間の基準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9703-4B50-4380-AE86-EB6C5CE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製品の公称値ではなく、暗号化・検査を有効にした状態で評価する。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10513219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合格基準・測定条件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REQ-PER-01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AWS向け暗号化通信の必要実効帯域はCTR 200、BR1 100、BR2 100、BR3 50Mbps。各拠点で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片系回線・装置だけでも確保。制御可能な試験区間で測定する。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REQ-PER-02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繁忙時想定トラフィックで、端末からAWS基盤サーバへのRTTは95パーセンタイル50ms以内、損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失率0.1％以下を30分測定。インターネット回線のSLA保証値とは区別する。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REQ-PER-03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平常時の新規802.1X認証は95％が5秒以内。全社合計100台が60秒内に再認証する負荷試験で、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正当な認証要求の成功率99％以上。失敗要求は原因を記録する。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REQ-PER-04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社内無線は拠点別設計同時接続数で試験。来訪者20台／拠点は別負荷。業務アプリ応答の判定値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とテストデータは業務担当が基本設計終了までに承認する。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REQ-PER-05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端末・通信量は3年間で20％増を想定。IP枯渇、PoE、CPU、メモリ、ログ容量を試算し、通常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ピークのCPU・メモリ使用率70％以下を設計目標とする。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8F9AC-9651-4EA7-B2A3-43EBC6C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試験機材の上限と本番回線の変動を記録する。未達時は原因を切り分け、要件緩和は発注者の承認事項とする。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A865E-C873-4977-A901-4E9704F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03939-5906-483B-B785-E82F5B36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55840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549D9-3307-4702-BA7D-1089690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セキュリティ・監視・運用要件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1E22-8258-4AF5-9AB3-B7DD47CF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管理経路を限定し、障害と設定変更を追跡できる状態を維持する。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10513219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要件ID／優先度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要求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REQ-SEC-02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管理アクセスは承認済み運用端末・踏み台に限定。個人ID、最小権限、可能な範囲のMFAを適用。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緊急用ローカルIDは封印管理し、利用履歴を記録する。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REQ-OPS-01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回線、IPsec・BGP、装置、PoE、AP、RADIUS、証明書期限、AD・DNSを監視。重大障害は検知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から5分以内に担当へ通知。端末視点の認証監視も設ける。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REQ-OPS-02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機器・認証・FW・AWS操作ログは検索可能90日、保管1年。時刻誤差は60秒以内。回線断時のロ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ーカル保持容量と再送方法を製品ごとに明記する。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REQ-OPS-03 必須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機器Configは変更直後と日次にバックアップ。暗号化・アクセス制限を適用し、代表機器の復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元試験を行う。鍵やパスワードは成果物・ソース管理に平文保存しない。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REQ-OPS-04 必須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障害受付は24時間。一次切分け30分以内、業務影響の通知と保守連絡先を整備。AP・PoE故障で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の部分停止は4時間以内の暫定復旧を目標に予備品を設計する。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9C32B-D522-4AAD-916C-C97D761A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ログに含まれる利用者IDや端末情報は権限と保存期間を制限。監視基盤停止時の代替連絡手順も引継ぎ対象。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983E-C73A-4AA0-B994-9C174641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572E1-6784-46DF-A88E-6D58018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700462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5F7DE-D8D4-433A-BD7C-3BEA158F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移行工程と判定ゲート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3DFA8-0E38-4A1D-A5BE-5F01C6B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クラウド接続・ID基盤を先行し、拠点更改と認証方式変更を分けて実施する。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6131719"/>
                <a:gridCol w="4381500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時期／ゲート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次工程へ進む条件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2026年10〜12月／G1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現地調査、要件確定、基本・詳細設計。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回線手配、台帳・業務通信の確認。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Q-01〜Q-08の回答と設計承認。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発注・回線納期を確定。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2027年1〜2月／G2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新回線・AWS・AD/DNS・NPS・PKI構築。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検証環境で現行認証方式と接続を評価。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単一障害、経路、認証、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切戻しの試験に合格。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3〜4月／G3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BR3で先行更改後、BR1、BR2、CTRの順。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AWS認証へ切替し、拠点ごとに5営業日観察。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拠点の業務責任者が受入。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重大障害0件、未解決事項を承認。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5月／G4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ファイル・ポータル移行、端末証明書展開。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管理端末をEAP-TLSへ段階切替。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権限・データ照合、全対象端末の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認証試験、例外期限を確定。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6月／G5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総合試験、運用訓練、旧NPS・旧AD等廃止。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6月20日検収、6月30日まで旧機器を保持。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残置業務の依存解消を確認。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廃止・撤去を発注者が承認。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11E54-410B-424D-9098-978FDB17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REQ-MIG-01 必須：各ゲートの証跡と承認を記録。旧ADの廃止はFSMO・DNS・アプリ依存を含めID担当が判定する。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FFF9E-BCD5-4141-90EC-F008F87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35874-A593-4FFF-9C1A-513F9184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953334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C30C4-1CE4-42FF-9D2C-5B49144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停止時間・切戻しの要件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023D1-CC21-4C1A-9B15-C5AD3BC2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土曜夜間の拠点切替と、データ移行の切戻しを別々に管理する。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93281"/>
                <a:gridCol w="10513219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要件ID／項目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REQ-MIG-02 必須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NW停止枠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各拠点の停止枠は土曜22:00〜日曜02:00（最大4時間）。01:00までに認証・DNS・残置業務・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AWS疎通が合格しなければ切戻しを開始する。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REQ-MIG-03 必須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NW切戻し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旧機器、結線、Config、経路・DHCP・RADIUS順序を復元し、60分以内に旧環境の主要業務を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回復。切戻し完了と端末試験まで停止枠に含める。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REQ-MIG-04 必須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判断・連絡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認証全断15分超、誤経路・情報漏えい疑い、主要業務の回復見込みなしの場合は時刻前でも判断。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移行統括が提案し、発注者責任者が切戻しを決定する。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REQ-MIG-05 必須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データ移行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ファイル・ポータルは別の土曜20:00〜日曜08:00枠。事前コピー後に書込停止・差分同期・照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合を行う。切替後の書込を旧側へ戻す方法と中止期限を計画する。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REQ-MIG-06 必須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認証の切戻し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EAP-TLS切替は小規模グループから実施。失敗時は承認済み端末プロファイル・RADIUSポリシ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ーへ戻す。認証省略による回復は禁止する。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CDCD1-2D1D-4A08-907E-A9E3E31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データ移行枠とRTO／RPOの最終値はQ-06で確定。ネットワークを戻すだけでは切替後データの整合性は回復しない。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5684E-0B4D-4F7F-86C2-DDBF9F6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C210D-38BF-4178-95E8-2C8EE009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225566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938E-66DB-4C13-A248-6F23CAC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受入試験と要件の対応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B8B3D-6139-44F8-BD5E-0C6B21C9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正常系だけでなく、拒否・障害・復旧を端末から確認する。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29063"/>
                <a:gridCol w="5357813"/>
                <a:gridCol w="4619625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試験ID／参照要件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試験内容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合格条件・証跡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T-01／WAN-01〜03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ADR-01、SEC-01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閉域残置業務、AWS、拠点間、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ゲスト隔離、誤った経路広告を確認。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許可通信のみ成功。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経路表・FWログ・疎通結果を保存。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T-02／ID-01〜06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CLD-01〜02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新旧NPS、EAP-TLS、期限切れ・失効・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未信頼証明書、両NPS停止を確認。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正当端末は成功、不正端末は拒否。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NPSログと端末結果を突合。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T-03／AVL-01〜04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PER-01〜03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回線・装置・NPS・AZ・CTR停止。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認証と業務の回復時間を測定。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60秒／30秒等の対象基準を達成。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切替時刻と業務再開時刻を記録。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T-04／LAN-01〜02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WLAN-01〜03、PER-04〜05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DHCP・冗長GW・PoE、無線現地測定、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設計同時接続負荷と帯域試験。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アドレス重複なし。容量・電波・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応答の基準を満たす。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T-05／MIG-01〜06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OPS-01〜04、DOC-01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移行・切戻しリハーサル、通知、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Config復元、運用手順、成果物突合。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停止枠内に復旧。通知・復元成功。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重大不具合0件、残件は承認済み。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3F2CE-EECC-4185-9E78-6E8988E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参照要件の接頭辞REQ-は表内で省略。これは試験分類であり、詳細試験項目は条件・操作・期待値・証跡単位に展開する。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C0C9B-46F6-4A1D-8F3E-DD6D992A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7714-F28D-41B6-826F-210172D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08050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C38CD-B117-4341-B118-365C92D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納品物と運用引継ぎ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A5BDD-A332-4B07-83A0-1A6EDD9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設計からConfig、試験、運用まで同じ拠点名・機器名・要件IDで追跡する。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90938"/>
                <a:gridCol w="10215563"/>
              </a:tblGrid>
              <a:tr h="6318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成果物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必須内容／形式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要件・設計書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要件定義、基本・詳細設計、AWS・ID設計、移行設計、試験設計。Wordを基本とし、承認日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・版・未決事項の処置を記録する。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パラメータ・台帳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Excelで機種別・ホスト別パラメータ、IP、VLAN、ポート、回線、VPN・BGP、通信許可、証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明書を管理。鍵値は保管先参照のみ。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構成図・Config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Visioで物理・論理・アドレス・試験構成を区別。Configは機種・OS版・ホスト単位で生成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し、対応パラメータと照合する。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工事・試験資料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ExcelまたはPowerPointで結線・ラック・作業順・切戻し・連絡体制。Excel試験項目表に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期待値、結果、証跡、担当、要件IDを記録する。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92710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運用引継ぎ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WordまたはPowerPointで監視、障害切分け、保守、バックアップ、証明書更新、アカウン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ト、変更手順を説明。机上訓練と復元演習を実施する。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F7CF3-94EA-4D4D-8113-9FCAEFE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REQ-DOC-01 必須：拠点・ホスト名・IP・VLAN・ポート・要件IDの整合を検査し、成果物間の不一致0件で納品する。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A43D3-A430-48EF-8C4A-B16F6658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66CEE-54F1-471D-8F5D-F1C1D2C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820043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17672-D8A4-479F-A335-BBE8612F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未決事項と確認依頼 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6400D-3462-4345-AA9B-F96A99FF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回答が設計と費用に直結する事項を、基本設計の承認前に確定する。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36094"/>
                <a:gridCol w="7084219"/>
                <a:gridCol w="3786188"/>
              </a:tblGrid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ID／確認先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確認事項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未確定の影響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Q-01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発注者・経営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初期費用と年間運用費の上限、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閉域回線の二重化へ投資するか。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回答期限：2026年10月16日。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機器・回線・AWSの採否、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残置業務の可用性。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Q-02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NW担当・調達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採用ベンダー、保守条件、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機器OS版、台数、予備品、納期。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回答期限：2026年11月13日。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Config構文、冗長方式、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証明書・無線の対応可否。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Q-03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クラウド・ID担当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AD/NPS/PKIのOS・配置、ファイル方式、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ライセンス、運用責任と移行方式。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回答期限：2026年10月30日。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サーバ台帳、必要通信、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移行順序と月額費用。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Q-04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発注者・セキュリティ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拠点Web出口の分散可否、URL制御、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ゲスト利用規程、監査ログの確認。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回答期限：2026年10月30日。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出口FWの機能と性能、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経路・NAT・ゲスト設計。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1150C-44B3-47A5-873F-9B498A6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回答までの設計は仮定として明示する。費用・方式を確定した扱いでConfigや工事指示へ展開しない。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6BF0-55B0-4B72-8177-E150CD67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8E691-730E-4F08-8D9C-9EAA122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979035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689D7-C08D-4076-8CCD-CF3995C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未決事項と確認依頼 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C9C31-2C95-4F72-A6CA-7FA15B45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認証障害時の継続条件と、残置業務の依存関係を明確にする。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36094"/>
                <a:gridCol w="7084219"/>
                <a:gridCol w="3786188"/>
              </a:tblGrid>
              <a:tr h="58102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ID／確認先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確認事項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未確定の影響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Q-05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ID・業務担当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AD/RPC、PKI失効確認、残置アプリの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実通信一覧と必要なFQDNを提示する。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回答期限：2026年11月13日。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ACL・SG・名前解決設計。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未確認ポートの自動許可禁止。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Q-06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業務責任者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ファイル・ポータルのRTO 4時間／RPO 24時間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を暫定案とする。リージョン災害、データ移行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12時間枠と整合するか。期限：10月30日。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バックアップ・データ移行・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復旧試験と検収条件。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最終値は承認前。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Q-07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NW・業務担当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両回線断時、既存無線セッションをいつまで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維持する必要があるか。再認証間隔と端末・AP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の実挙動を確認する。期限：11月13日。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既存接続の継続可否。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新規認証拒否は確定要件。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Q-08</a:t>
                      </a:r>
                    </a:p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現地担当・キャリア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回線の物理分離、固定公開IP、ラック・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電源・UPS・配線・PoE実測・無線調査結果。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回答期限：2026年11月13日。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機器数、給電、工事費、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二重化の実効性と納期。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D5B9-C44A-4C0D-907C-172E5081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本書の必須要件と矛盾する回答は変更要求として扱い、影響する設計・台帳・試験を同時に改訂する。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E43C7-C504-4491-B047-2E3A72DE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50E62-DF28-4D92-B6CF-1F9B645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23531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A914-124C-40DB-AE59-251275A2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17334A"/>
                </a:solidFill>
                <a:latin typeface="Noto Sans JP"/>
                <a:ea typeface="Noto Sans JP"/>
                <a:cs typeface="Noto Sans JP"/>
              </a:rPr>
              <a:t>承認・変更管理と設計への引渡し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17A71-152A-4355-9983-8E622A2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未決事項を残したまま、設計案を本番設定として確定させない。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90725"/>
          <a:ext xmlns:a="http://schemas.openxmlformats.org/drawingml/2006/main" cx="13906500" cy="5267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10572750"/>
              </a:tblGrid>
              <a:tr h="817245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実施内容・承認条件</a:t>
                      </a:r>
                    </a:p>
                  </a:txBody>
                  <a:tcPr marL="152400" marR="152400" marT="57150" marB="57150" anchor="ctr">
                    <a:solidFill>
                      <a:srgbClr val="17334A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要件の承認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発注者の情報システム責任者が必須・希望・除外範囲と試験基準を承認。業務責任者は停止時間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・業務継続条件・復旧目標を確認する。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設計への引渡し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要件ID、現行値、移行先、根拠ページ、未決事項を引き渡す。参考案と確定値を別の状態で管理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し、ホスト別パラメータを作成する。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変更管理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変更理由、影響拠点、費用、停止時間、関連要件・試験IDを記録。機種・経路・認証・アドレス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の変更は設計書・台帳・Config・図面へ一括反映する。</a:t>
                      </a:r>
                    </a:p>
                  </a:txBody>
                  <a:tcPr marL="152400" marR="152400" marT="57150" marB="57150" anchor="ctr"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最終検収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必須要件を満たし、重大不具合0件、残件は期限・責任者付きで承認済みとする。運用引継ぎ、復</a:t>
                      </a:r>
                    </a:p>
                    <a:p>
                      <a:r>
                        <a:rPr sz="1800" b="0">
                          <a:solidFill>
                            <a:srgbClr val="21334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旧訓練、全成果物の版を確認して完了とする。</a:t>
                      </a:r>
                    </a:p>
                  </a:txBody>
                  <a:tcPr marL="152400" marR="152400" marT="57150" marB="5715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AF56F-70C1-4AC4-B3AA-D58F86E9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676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本書は架空シナリオの第1.0版。社名・設備・数値・日時は検証用であり、実際の構築・契約・設定投入には使用しない。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5FF7B-D4BE-43B4-A93F-230645F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1266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26570"/>
                </a:solidFill>
                <a:latin typeface="Noto Sans JP"/>
                <a:ea typeface="Noto Sans JP"/>
                <a:cs typeface="Noto Sans JP"/>
              </a:rPr>
              <a:t>株式会社サンプル機工（架空）  ／  要件定義書  v1.0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54C78-376F-494E-A062-DFB750D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7245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D6D76"/>
                </a:solidFill>
                <a:latin typeface="Noto Sans JP"/>
                <a:ea typeface="Noto Sans JP"/>
                <a:cs typeface="Noto Sans JP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09270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2026-09-27T11:07:18.7730000Z</dcterms:created>
  <dcterms:modified xsi:type="dcterms:W3CDTF">2026-09-27T11:07:18.7730000Z</dcterms:modified>
</coreProperties>
</file>